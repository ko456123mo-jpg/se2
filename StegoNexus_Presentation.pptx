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548640"/>
            <a:ext cx="1280160" cy="1280160"/>
          </a:xfrm>
          <a:prstGeom prst="ellipse">
            <a:avLst/>
          </a:prstGeom>
          <a:noFill/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64240" y="1188719"/>
            <a:ext cx="1005839" cy="1005839"/>
          </a:xfrm>
          <a:prstGeom prst="ellipse">
            <a:avLst/>
          </a:prstGeom>
          <a:noFill/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52760" y="1828800"/>
            <a:ext cx="731519" cy="731519"/>
          </a:xfrm>
          <a:prstGeom prst="ellipse">
            <a:avLst/>
          </a:prstGeom>
          <a:noFill/>
          <a:ln w="15240">
            <a:solidFill>
              <a:srgbClr val="16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15968" y="1005840"/>
            <a:ext cx="3566160" cy="402336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300" b="1">
                <a:solidFill>
                  <a:srgbClr val="22D3EE"/>
                </a:solidFill>
                <a:latin typeface="Segoe UI"/>
                <a:cs typeface="Segoe UI"/>
              </a:rPr>
              <a:t>مشروع مادة إخفاء البيانات والتحليل الجنائي الرقمي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999439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6000" b="1">
                <a:solidFill>
                  <a:srgbClr val="EAF2FC"/>
                </a:solidFill>
                <a:latin typeface="Segoe UI"/>
                <a:cs typeface="Segoe UI"/>
              </a:rPr>
              <a:t>StegoNexus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61488"/>
            <a:ext cx="9994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900" b="1">
                <a:solidFill>
                  <a:srgbClr val="22D3EE"/>
                </a:solidFill>
                <a:latin typeface="Segoe UI"/>
                <a:cs typeface="Segoe UI"/>
              </a:rPr>
              <a:t>منصة متكاملة لإخفاء واستخراج البيانات وتحليل البرمجيات الخبيثة والتحليل الجنائي الرقمي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01568"/>
            <a:ext cx="99943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3A7C4"/>
                </a:solidFill>
                <a:latin typeface="Segoe UI"/>
                <a:cs typeface="Segoe UI"/>
              </a:rPr>
              <a:t>Hide it. Extract it. Analyze it. Verify it. Investigate it. Document it. Report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406908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11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100" b="1">
                <a:solidFill>
                  <a:srgbClr val="22D3EE"/>
                </a:solidFill>
                <a:latin typeface="Segoe UI"/>
                <a:cs typeface="Segoe UI"/>
              </a:rPr>
              <a:t>Python + PySide6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406908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11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100" b="1">
                <a:solidFill>
                  <a:srgbClr val="34D399"/>
                </a:solidFill>
                <a:latin typeface="Segoe UI"/>
                <a:cs typeface="Segoe UI"/>
              </a:rPr>
              <a:t>Kali Linux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06908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11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100" b="1">
                <a:solidFill>
                  <a:srgbClr val="FBBF24"/>
                </a:solidFill>
                <a:latin typeface="Segoe UI"/>
                <a:cs typeface="Segoe UI"/>
              </a:rPr>
              <a:t>SQLite + AES-256-GCM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36408" y="406908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11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100" b="1">
                <a:solidFill>
                  <a:srgbClr val="A78BFA"/>
                </a:solidFill>
                <a:latin typeface="Segoe UI"/>
                <a:cs typeface="Segoe UI"/>
              </a:rPr>
              <a:t>10 محركات أصلية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4846320"/>
            <a:ext cx="5852160" cy="10972"/>
          </a:xfrm>
          <a:prstGeom prst="rect">
            <a:avLst/>
          </a:prstGeom>
          <a:solidFill>
            <a:srgbClr val="2A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99943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300" b="0">
                <a:solidFill>
                  <a:srgbClr val="EAF2FC"/>
                </a:solidFill>
                <a:latin typeface="Segoe UI"/>
                <a:cs typeface="Segoe UI"/>
              </a:rPr>
              <a:t>إعداد وتنفيذ: ..............................................</a:t>
            </a:r>
          </a:p>
          <a:p>
            <a:pPr algn="ctr" rtl="1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إشراف: ..............................................   ·   العام الجامعي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أجندة العرض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57800" y="1645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700" b="1">
                <a:solidFill>
                  <a:srgbClr val="22D3EE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63624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50" b="1">
                <a:solidFill>
                  <a:srgbClr val="EAF2FC"/>
                </a:solidFill>
                <a:latin typeface="Segoe UI"/>
                <a:cs typeface="Segoe UI"/>
              </a:rPr>
              <a:t>المشكلة والأهداف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93A7C4"/>
                </a:solidFill>
                <a:latin typeface="Segoe UI"/>
                <a:cs typeface="Segoe UI"/>
              </a:rPr>
              <a:t>لماذا هذه الأداة؟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89920" y="1645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700" b="1">
                <a:solidFill>
                  <a:srgbClr val="22D3EE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63624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50" b="1">
                <a:solidFill>
                  <a:srgbClr val="EAF2FC"/>
                </a:solidFill>
                <a:latin typeface="Segoe UI"/>
                <a:cs typeface="Segoe UI"/>
              </a:rPr>
              <a:t>البنية المعمارية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8424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93A7C4"/>
                </a:solidFill>
                <a:latin typeface="Segoe UI"/>
                <a:cs typeface="Segoe UI"/>
              </a:rPr>
              <a:t>PySide6 + خدمات + 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24328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57800" y="285292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700" b="1">
                <a:solidFill>
                  <a:srgbClr val="22D3EE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77063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50" b="1">
                <a:solidFill>
                  <a:srgbClr val="EAF2FC"/>
                </a:solidFill>
                <a:latin typeface="Segoe UI"/>
                <a:cs typeface="Segoe UI"/>
              </a:rPr>
              <a:t>الإطار الجنائي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9125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93A7C4"/>
                </a:solidFill>
                <a:latin typeface="Segoe UI"/>
                <a:cs typeface="Segoe UI"/>
              </a:rPr>
              <a:t>قضايا · أدلة · تجزئة · سجل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24328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789920" y="285292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700" b="1">
                <a:solidFill>
                  <a:srgbClr val="22D3EE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70632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50" b="1">
                <a:solidFill>
                  <a:srgbClr val="EAF2FC"/>
                </a:solidFill>
                <a:latin typeface="Segoe UI"/>
                <a:cs typeface="Segoe UI"/>
              </a:rPr>
              <a:t>الميتاداتا والفورنسيك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9125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93A7C4"/>
                </a:solidFill>
                <a:latin typeface="Segoe UI"/>
                <a:cs typeface="Segoe UI"/>
              </a:rPr>
              <a:t>ExifTool · Triage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831336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57800" y="405993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700" b="1">
                <a:solidFill>
                  <a:srgbClr val="22D3EE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7764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50" b="1">
                <a:solidFill>
                  <a:srgbClr val="EAF2FC"/>
                </a:solidFill>
                <a:latin typeface="Segoe UI"/>
                <a:cs typeface="Segoe UI"/>
              </a:rPr>
              <a:t>الإخفاء: نص وصورة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9826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93A7C4"/>
                </a:solidFill>
                <a:latin typeface="Segoe UI"/>
                <a:cs typeface="Segoe UI"/>
              </a:rPr>
              <a:t>LSB + Key · Steghide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831336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789920" y="405993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700" b="1">
                <a:solidFill>
                  <a:srgbClr val="22D3EE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97764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50" b="1">
                <a:solidFill>
                  <a:srgbClr val="EAF2FC"/>
                </a:solidFill>
                <a:latin typeface="Segoe UI"/>
                <a:cs typeface="Segoe UI"/>
              </a:rPr>
              <a:t>الإخفاء: صوت وفيديو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39826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93A7C4"/>
                </a:solidFill>
                <a:latin typeface="Segoe UI"/>
                <a:cs typeface="Segoe UI"/>
              </a:rPr>
              <a:t>LSB · Phase · DSSS · EOF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038344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57800" y="526694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700" b="1">
                <a:solidFill>
                  <a:srgbClr val="22D3EE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8464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50" b="1">
                <a:solidFill>
                  <a:srgbClr val="EAF2FC"/>
                </a:solidFill>
                <a:latin typeface="Segoe UI"/>
                <a:cs typeface="Segoe UI"/>
              </a:rPr>
              <a:t>الشبكة والملفات التنفيذية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60527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93A7C4"/>
                </a:solidFill>
                <a:latin typeface="Segoe UI"/>
                <a:cs typeface="Segoe UI"/>
              </a:rPr>
              <a:t>IPv4-ID · Overlay/Slack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038344"/>
            <a:ext cx="5257800" cy="100584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789920" y="526694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700" b="1">
                <a:solidFill>
                  <a:srgbClr val="22D3EE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184648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50" b="1">
                <a:solidFill>
                  <a:srgbClr val="EAF2FC"/>
                </a:solidFill>
                <a:latin typeface="Segoe UI"/>
                <a:cs typeface="Segoe UI"/>
              </a:rPr>
              <a:t>الأمان والتحقق والخاتمة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60527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93A7C4"/>
                </a:solidFill>
                <a:latin typeface="Segoe UI"/>
                <a:cs typeface="Segoe UI"/>
              </a:rPr>
              <a:t>34 اختبارًا · 36 خطوة موثقة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المشكلة والحل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Problem &amp;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349240" cy="329184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64008" cy="329184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517904"/>
            <a:ext cx="496519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F87171"/>
                </a:solidFill>
                <a:latin typeface="Segoe UI"/>
                <a:cs typeface="Segoe UI"/>
              </a:rPr>
              <a:t>المشكلة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أدوات الإخفاء في المقرر متفرقة: كل أداة تقنية واحدة فقط ومنصة واحدة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OpenPuff وDeepSound وCyberHide تعمل على Windows حصرًا — لا تعمل على Kali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لا ربط بين الإخفاء والتحليل الجنائي وتوثيق القضية والتقارير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لا توجد لغة موحدة لإثبات أن النتيجة حقيقية لا مزيفة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371600"/>
            <a:ext cx="5440680" cy="329184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371600"/>
            <a:ext cx="64008" cy="32918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517904"/>
            <a:ext cx="505663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34D399"/>
                </a:solidFill>
                <a:latin typeface="Segoe UI"/>
                <a:cs typeface="Segoe UI"/>
              </a:rPr>
              <a:t>الحل: StegoNexus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منصة موحدة على Kali تنفذ كل تقنيات المقرر بمحركات أصلية مكتوبة خصيصًا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تدمج الأدوات الخارجية الحقيقية: ExifTool، Steghide، Binwalk، FFmpeg، tshark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دورة تحقيق كاملة: قضية ← أدلة بتجزئاتها ← نتائج ← تقارير PDF/HTML/JSON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سياسة صدق صريحة: ملصق حالة لكل خاصية وسجل تدقيق لكل إجراء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37760"/>
            <a:ext cx="11045952" cy="1143000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02352"/>
            <a:ext cx="10424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الهدف: تغطية 100% من متطلبات المقرر — عرض وحقن البيانات الوصفية، الإخفاء والاستخراج في النص والصورة والصوت والفيديو والشبكة والملفات التنفيذية (البرامج الضارة/الفيروسات) — بأكثر من تقنية لكل وسيط، مع إثبات قياسٍ لكل نتيجة.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البنية المعمارية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Architecture — layered, one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371600"/>
            <a:ext cx="8138160" cy="777240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490472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250" b="1">
                <a:solidFill>
                  <a:srgbClr val="EAF2FC"/>
                </a:solidFill>
                <a:latin typeface="Segoe UI"/>
                <a:cs typeface="Segoe UI"/>
              </a:rPr>
              <a:t>واجهات الاستخدام:  PySide6 GUI — 20 شاشة (ثيم داكن/فاتح، عمليات غير متجمدة)   |   CLI تفاعلي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70448" y="2212848"/>
            <a:ext cx="457200" cy="457200"/>
          </a:xfrm>
          <a:prstGeom prst="down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724912"/>
            <a:ext cx="8138160" cy="777240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843784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250" b="1">
                <a:solidFill>
                  <a:srgbClr val="EAF2FC"/>
                </a:solidFill>
                <a:latin typeface="Segoe UI"/>
                <a:cs typeface="Segoe UI"/>
              </a:rPr>
              <a:t>17 واجهة خدمة (Service Facades): تحقق من المدخلات ← تنفيذ ← تسجيل في قاعدة البيانات وسجل التدقيق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70448" y="3566160"/>
            <a:ext cx="457200" cy="457200"/>
          </a:xfrm>
          <a:prstGeom prst="down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11680" y="4078224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4206240"/>
            <a:ext cx="2386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  <a:cs typeface="Segoe UI"/>
              </a:rPr>
              <a:t>10 محركات إخفاء أصلية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4590288"/>
            <a:ext cx="23865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lsb_text/image/audio · phase · DSSS · container · video_lsb · pe_stego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4078224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0328" y="4206240"/>
            <a:ext cx="2386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Segoe UI"/>
                <a:cs typeface="Segoe UI"/>
              </a:rPr>
              <a:t>ToolExecutor آمن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4590288"/>
            <a:ext cx="23865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أدوات خارجية بلا shell=True: exiftool · steghide · binwalk · ffmpeg · tshark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078224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4206240"/>
            <a:ext cx="2386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Segoe UI"/>
                <a:cs typeface="Segoe UI"/>
              </a:rPr>
              <a:t>تحليل دفاعي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4590288"/>
            <a:ext cx="238658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PE · ELF · Office · IOC · evasion catalogue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870448" y="5285232"/>
            <a:ext cx="457200" cy="384048"/>
          </a:xfrm>
          <a:prstGeom prst="down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11680" y="5705856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788152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150" b="1">
                <a:solidFill>
                  <a:srgbClr val="EAF2FC"/>
                </a:solidFill>
                <a:latin typeface="Segoe UI"/>
                <a:cs typeface="Segoe UI"/>
              </a:rPr>
              <a:t>التخزين: SQLite بوضع WAL — قضايا · أدلة وتجزئاتها · نتائج · تحليلات · تقارير · سجل تدقيق (لوحة المعلومات محسوبة منه كليًا)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سياسة الصدق — لغة الحالات الموحدة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Honesty policy: a fixed status vocabulary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1018520" cy="841248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80" y="160934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200" b="1">
                <a:solidFill>
                  <a:srgbClr val="070C16"/>
                </a:solidFill>
                <a:latin typeface="Segoe UI"/>
                <a:cs typeface="Segoe UI"/>
              </a:rPr>
              <a:t>IMPLEMENTED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536192"/>
            <a:ext cx="5715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>
                <a:solidFill>
                  <a:srgbClr val="EAF2FC"/>
                </a:solidFill>
                <a:latin typeface="Segoe UI"/>
                <a:cs typeface="Segoe UI"/>
              </a:rPr>
              <a:t>محرك أصلي كتبناه واختبرناه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10 محركات إخفاء + التحليل الجنائي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386584"/>
            <a:ext cx="11018520" cy="841248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4080" y="257860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200" b="1">
                <a:solidFill>
                  <a:srgbClr val="070C16"/>
                </a:solidFill>
                <a:latin typeface="Segoe UI"/>
                <a:cs typeface="Segoe UI"/>
              </a:rPr>
              <a:t>INTEGRATED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505456"/>
            <a:ext cx="5715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>
                <a:solidFill>
                  <a:srgbClr val="EAF2FC"/>
                </a:solidFill>
                <a:latin typeface="Segoe UI"/>
                <a:cs typeface="Segoe UI"/>
              </a:rPr>
              <a:t>أداة خارجية حقيقية مدمجة فعلًا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43784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ExifTool · Steghide · FFmpeg · Binwalk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55848"/>
            <a:ext cx="11018520" cy="841248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84080" y="3547872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200" b="1">
                <a:solidFill>
                  <a:srgbClr val="070C16"/>
                </a:solidFill>
                <a:latin typeface="Segoe UI"/>
                <a:cs typeface="Segoe UI"/>
              </a:rPr>
              <a:t>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474720"/>
            <a:ext cx="5715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>
                <a:solidFill>
                  <a:srgbClr val="EAF2FC"/>
                </a:solidFill>
                <a:latin typeface="Segoe UI"/>
                <a:cs typeface="Segoe UI"/>
              </a:rPr>
              <a:t>أداة مقرر نشرحها ولا نزيّفها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1304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OpenPuff · CyberHide · DeepSound · Coagula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325112"/>
            <a:ext cx="11018520" cy="841248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84080" y="4517136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200" b="1">
                <a:solidFill>
                  <a:srgbClr val="070C16"/>
                </a:solidFill>
                <a:latin typeface="Segoe UI"/>
                <a:cs typeface="Segoe UI"/>
              </a:rPr>
              <a:t>EXTERNAL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443984"/>
            <a:ext cx="5715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>
                <a:solidFill>
                  <a:srgbClr val="EAF2FC"/>
                </a:solidFill>
                <a:latin typeface="Segoe UI"/>
                <a:cs typeface="Segoe UI"/>
              </a:rPr>
              <a:t>أداة نظام يمكن إطلاقها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82312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Wireshark · Audacity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294376"/>
            <a:ext cx="11018520" cy="841248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84080" y="54864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200" b="1">
                <a:solidFill>
                  <a:srgbClr val="070C16"/>
                </a:solidFill>
                <a:latin typeface="Segoe UI"/>
                <a:cs typeface="Segoe UI"/>
              </a:rPr>
              <a:t>UNAVAILABLE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413248"/>
            <a:ext cx="5715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00" b="1">
                <a:solidFill>
                  <a:srgbClr val="EAF2FC"/>
                </a:solidFill>
                <a:latin typeface="Segoe UI"/>
                <a:cs typeface="Segoe UI"/>
              </a:rPr>
              <a:t>غير مثبتة — تُعلن بصدق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51576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أي أداة غائبة تظهر هكذا، لا نتائج ملفقة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236208"/>
            <a:ext cx="11018520" cy="18288"/>
          </a:xfrm>
          <a:prstGeom prst="rect">
            <a:avLst/>
          </a:prstGeom>
          <a:solidFill>
            <a:srgbClr val="2A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الإطار الجنائي: القضية والأدلة والتجزئة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Case management, evidence &amp;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8" name="Chevron 7"/>
          <p:cNvSpPr/>
          <p:nvPr/>
        </p:nvSpPr>
        <p:spPr>
          <a:xfrm>
            <a:off x="685800" y="1463040"/>
            <a:ext cx="2788920" cy="777240"/>
          </a:xfrm>
          <a:prstGeom prst="chevron">
            <a:avLst/>
          </a:prstGeom>
          <a:solidFill>
            <a:srgbClr val="16233B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400" b="1">
                <a:solidFill>
                  <a:srgbClr val="EAF2FC"/>
                </a:solidFill>
                <a:latin typeface="Segoe UI"/>
                <a:cs typeface="Segoe UI"/>
              </a:rPr>
              <a:t>قضية</a:t>
            </a:r>
          </a:p>
        </p:txBody>
      </p:sp>
      <p:sp>
        <p:nvSpPr>
          <p:cNvPr id="9" name="Chevron 8"/>
          <p:cNvSpPr/>
          <p:nvPr/>
        </p:nvSpPr>
        <p:spPr>
          <a:xfrm>
            <a:off x="3429000" y="1463040"/>
            <a:ext cx="2788920" cy="777240"/>
          </a:xfrm>
          <a:prstGeom prst="chevron">
            <a:avLst/>
          </a:prstGeom>
          <a:solidFill>
            <a:srgbClr val="16233B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400" b="1">
                <a:solidFill>
                  <a:srgbClr val="EAF2FC"/>
                </a:solidFill>
                <a:latin typeface="Segoe UI"/>
                <a:cs typeface="Segoe UI"/>
              </a:rPr>
              <a:t>استيراد دليل</a:t>
            </a:r>
          </a:p>
        </p:txBody>
      </p:sp>
      <p:sp>
        <p:nvSpPr>
          <p:cNvPr id="10" name="Chevron 9"/>
          <p:cNvSpPr/>
          <p:nvPr/>
        </p:nvSpPr>
        <p:spPr>
          <a:xfrm>
            <a:off x="6172200" y="1463040"/>
            <a:ext cx="2788920" cy="777240"/>
          </a:xfrm>
          <a:prstGeom prst="chevron">
            <a:avLst/>
          </a:prstGeom>
          <a:solidFill>
            <a:srgbClr val="16233B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400" b="1">
                <a:solidFill>
                  <a:srgbClr val="EAF2FC"/>
                </a:solidFill>
                <a:latin typeface="Segoe UI"/>
                <a:cs typeface="Segoe UI"/>
              </a:rPr>
              <a:t>نتائج</a:t>
            </a:r>
          </a:p>
        </p:txBody>
      </p:sp>
      <p:sp>
        <p:nvSpPr>
          <p:cNvPr id="11" name="Chevron 10"/>
          <p:cNvSpPr/>
          <p:nvPr/>
        </p:nvSpPr>
        <p:spPr>
          <a:xfrm>
            <a:off x="8915400" y="1463040"/>
            <a:ext cx="2788920" cy="777240"/>
          </a:xfrm>
          <a:prstGeom prst="chevron">
            <a:avLst/>
          </a:prstGeom>
          <a:solidFill>
            <a:srgbClr val="16233B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400" b="1">
                <a:solidFill>
                  <a:srgbClr val="EAF2FC"/>
                </a:solidFill>
                <a:latin typeface="Segoe UI"/>
                <a:cs typeface="Segoe UI"/>
              </a:rPr>
              <a:t>تقارير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0957" y="2495550"/>
            <a:ext cx="4917445" cy="3284220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07" y="2514600"/>
            <a:ext cx="4879345" cy="3246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38160" y="5779008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لقطة حقيقية: قضية وأدلة مستوردة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14600"/>
            <a:ext cx="5257800" cy="324612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514600"/>
            <a:ext cx="64008" cy="32461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2660904"/>
            <a:ext cx="4873752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34D399"/>
                </a:solidFill>
                <a:latin typeface="Segoe UI"/>
                <a:cs typeface="Segoe UI"/>
              </a:rPr>
              <a:t>ماذا يحدث فور الاستيراد؟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حساب 4 تجزئات للدليل: MD5 · SHA-1 · SHA-256 · SHA-512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فتح سلسلة العهدة وربط الدليل بالقضية النشطة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الأصل لا يُعدَّل أبدًا — كل عمليات الإخفاء/الحقن على نسخ عمل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زر Verify: مقارنة التجزئة المخزنة بالحالية ← MATCH / MISMATCH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أرقام من تشغيلنا الموثق: القضية #22 — 6 أدلة (PNG/JPG/WAV/MP4/PCAP/EXE) بتجزئاتها كاملة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التجزئة والتحقق من السلامة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Hashing — MD5 / SHA-1 / SHA-256 / SHA-512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7430" y="1630680"/>
            <a:ext cx="5524500" cy="3688080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as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9730"/>
            <a:ext cx="5486400" cy="36499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38160" y="562356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حساب ومقارنة حقيقية داخل الأداة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71600"/>
            <a:ext cx="5257800" cy="201168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371600"/>
            <a:ext cx="64008" cy="2011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517904"/>
            <a:ext cx="48737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لماذا 4 خوارزميات؟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SHA-256/512: مرجع السلامة (MD5 وSHA-1 مكسوران تصادميًا — للتوثيق فقط)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Compute: الأربعة دفعة واحدة لملف حتى 4GB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Compare: ملفان ← MATCH / MISMATCH + فرق الحجم + استنتاج نصي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66160"/>
            <a:ext cx="5257800" cy="201168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566160"/>
            <a:ext cx="64008" cy="20116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712464"/>
            <a:ext cx="48737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34D399"/>
                </a:solidFill>
                <a:latin typeface="Segoe UI"/>
                <a:cs typeface="Segoe UI"/>
              </a:rPr>
              <a:t>دورها في إثباتنا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قبل/بعد كل حقن: تجزئة الأصل متطابقة ← الأصل لم يُمَس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بعد كل استخراج: تجزئة المسترجَع = الأصل ← تطابق بايت-ببايت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من تشغيلنا: كل جولات الإخفاء الـ 12 انتهت بتطابق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البيانات الوصفية: عرض وحقن وإزالة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Metadata — read / inject / strip / compare (ExifTool)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7430" y="1516379"/>
            <a:ext cx="5524500" cy="3688080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35429"/>
            <a:ext cx="5486400" cy="36499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01000" y="5440680"/>
            <a:ext cx="338328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حقن 3 وسوم — تجزئة الأصل unchanged=True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71600"/>
            <a:ext cx="5257800" cy="283464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371600"/>
            <a:ext cx="64008" cy="2834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517904"/>
            <a:ext cx="4873752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العمليات الأربع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Read: عرض كل الوسوم عبر exiftool (قرأنا 32 وسمًا من JPEG فعليًا)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Inject: كتابة وسوم (Comment/Artist/Copyright…) في نسخة جديدة حصرًا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Compare: فرق قبل/بعد وسمًا بوسم (مضاف/محذوف/معدَّل)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Strip: نسخة نظيفة بلا وسوم حساسة للمشاركة الآمنة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389120"/>
            <a:ext cx="5257800" cy="169164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89120"/>
            <a:ext cx="64008" cy="16916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535424"/>
            <a:ext cx="4873752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FBBF24"/>
                </a:solidFill>
                <a:latin typeface="Segoe UI"/>
                <a:cs typeface="Segoe UI"/>
              </a:rPr>
              <a:t>لماذا هي مهمة جنائيًا؟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تثبت المنشأ والتوقيت والجهاز — وقد تسرّب موقعًا جغرافيًا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الحقن نفسه قناة إخفاء خفيفة: بيانات تعسفية داخل وسوم تعسفية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التحليل الجنائي للملفات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Forensics — file · strings · entropy · binwalk · foremost · steghide · zsteg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7430" y="1630680"/>
            <a:ext cx="5524500" cy="3688080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oren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9730"/>
            <a:ext cx="5486400" cy="36499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38160" y="562356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زر Triage يشغل كل الأدوات دفعة واحدة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417320"/>
            <a:ext cx="5257800" cy="713232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499616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Segoe UI"/>
                <a:cs typeface="Segoe UI"/>
              </a:rPr>
              <a:t>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499616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النوع الحقيقي من البصمة — يكشف انتحال الامتداد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258568"/>
            <a:ext cx="5257800" cy="713232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40864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Segoe UI"/>
                <a:cs typeface="Segoe UI"/>
              </a:rPr>
              <a:t>strings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340864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سلاسل مقروءة: روابط وعناوين ومؤشرات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099816"/>
            <a:ext cx="5257800" cy="713232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2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Segoe UI"/>
                <a:cs typeface="Segoe UI"/>
              </a:rPr>
              <a:t>entropy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182112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عشوائية شانون 0–8: العالية مؤشر ضغط/تشفير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941064"/>
            <a:ext cx="5257800" cy="713232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23360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Segoe UI"/>
                <a:cs typeface="Segoe UI"/>
              </a:rPr>
              <a:t>binwalk · foremost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023360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carving لاستخراج ملفات مضمّنة بالتوقيع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782312"/>
            <a:ext cx="5257800" cy="713232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64608"/>
            <a:ext cx="18745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2D3EE"/>
                </a:solidFill>
                <a:latin typeface="Segoe UI"/>
                <a:cs typeface="Segoe UI"/>
              </a:rPr>
              <a:t>steghide --info · zsteg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4864608"/>
            <a:ext cx="30175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هل يوجد إخفاء؟ وأي نوع؟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641848"/>
            <a:ext cx="5257800" cy="566928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7150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FBBF24"/>
                </a:solidFill>
                <a:latin typeface="Segoe UI"/>
                <a:cs typeface="Segoe UI"/>
              </a:rPr>
              <a:t>من تشغيلنا: PNG ضوضائي ← إنتروبيا 7.9988 · 330 سلسلة — الإنتروبيا العالية وحدها ليست دليلًا (الحامل نفسه ضوضاء)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الإخفاء في النص — LSB مع مفتاح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Text steganography: native LSB + key 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7430" y="1630680"/>
            <a:ext cx="5524500" cy="3688080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9730"/>
            <a:ext cx="5486400" cy="36499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38160" y="562356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Encode/Decode حقيقي داخل الأداة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71600"/>
            <a:ext cx="5257800" cy="324612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371600"/>
            <a:ext cx="64008" cy="3246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517904"/>
            <a:ext cx="4873752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كيف يعمل المحرك؟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1) اختيار الأحرف المؤهلة فقط: حروف/أرقام يبقى قلب LSB لها داخل المجموعة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2) تأطير الرسالة: بصمة SNX1 + فحص مفتاح + طول + CRC-32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3) ضغط zlib ثم تقنيع XOR بمجرى SHA-256-CTR مشتق من المفتاح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4) كتابة البتات بترتيب Fisher-Yates محكوم بالمفتاح — انتشار في كامل المستند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5) الاستخراج عكسي بنفس المفتاح ← مفتاح خاطئ = خطأ صريح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754880"/>
            <a:ext cx="5257800" cy="132588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754880"/>
            <a:ext cx="64008" cy="13258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901184"/>
            <a:ext cx="487375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FBBF24"/>
                </a:solidFill>
                <a:latin typeface="Segoe UI"/>
                <a:cs typeface="Segoe UI"/>
              </a:rPr>
              <a:t>الكشف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قلب LSB يغير الحرف ±1 فقط (a→b) — التضمين الكثيف يصنع انحياز LSB قابلًا للقياس بزر Analyse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الإخفاء في الصور — تقنيتان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Images: native LSB (PNG) + Steghide (JPEG)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7430" y="1630680"/>
            <a:ext cx="5524500" cy="3688080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9730"/>
            <a:ext cx="5486400" cy="36499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38160" y="562356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اختيار المحرك: native / steghide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71600"/>
            <a:ext cx="5257800" cy="214884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371600"/>
            <a:ext cx="64008" cy="2148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517904"/>
            <a:ext cx="4873752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المحرك الأصلي — LSB مكاني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استبدال بت LSB في قنوات البكسل — حامل ومخرج بلا فقد (PNG/BMP)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ترويسة ثابتة + جسم بترتيب numpy مشتق من SHA-256(ملح+مفتاح)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من تشغيلنا: 73 بايت داخل 256×256 ← استرجاع مطابق بايت-ببايت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703320"/>
            <a:ext cx="5257800" cy="214884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703320"/>
            <a:ext cx="64008" cy="21488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849624"/>
            <a:ext cx="4873752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34D399"/>
                </a:solidFill>
                <a:latin typeface="Segoe UI"/>
                <a:cs typeface="Segoe UI"/>
              </a:rPr>
              <a:t>Steghide — مدمجة INTEGRATED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أداة خارجية حقيقية (مجال تحويلي، نظرية المخططات، ضغط + تشفير داخلي)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JPEG/BMP/WAV — لا تدعم PNG (يظهر UNSUPPORTED بصدق)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من تشغيلنا: إخفاء واستخراج على JPEG بكلمة مرور ← تطابق كامل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943600"/>
            <a:ext cx="5120640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0">
                <a:solidFill>
                  <a:srgbClr val="FBBF24"/>
                </a:solidFill>
                <a:latin typeface="Segoe UI"/>
                <a:cs typeface="Segoe UI"/>
              </a:rPr>
              <a:t>لماذا لا LSB على JPEG؟ ضغط DCT الفائد يدمر البتات — لذا Steghide تعمل في المجال التحويلي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الإخفاء في الصوت — ثلاث تقنيات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Audio: LSB · Phase Coding · Spread Spectrum (DSSS)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6190" y="2018252"/>
            <a:ext cx="4015739" cy="2684334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37302"/>
            <a:ext cx="3977639" cy="26462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49640" y="54406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قائمة اختيار التقنية + SNR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71600"/>
            <a:ext cx="6766560" cy="137160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371600"/>
            <a:ext cx="64008" cy="1371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517904"/>
            <a:ext cx="63825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250" b="1">
                <a:solidFill>
                  <a:srgbClr val="22D3EE"/>
                </a:solidFill>
                <a:latin typeface="Segoe UI"/>
                <a:cs typeface="Segoe UI"/>
              </a:rPr>
              <a:t>1) LSB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استبدال LSB في عينات PCM 16-بت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خطوة البت = 1/32768 من المدى — دون عتبة السمع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السعة الأعلى والأبسط؛ هشة لأي إعادة ترميز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852928"/>
            <a:ext cx="6766560" cy="137160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852928"/>
            <a:ext cx="64008" cy="13716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999232"/>
            <a:ext cx="63825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250" b="1">
                <a:solidFill>
                  <a:srgbClr val="34D399"/>
                </a:solidFill>
                <a:latin typeface="Segoe UI"/>
                <a:cs typeface="Segoe UI"/>
              </a:rPr>
              <a:t>2) Phase Coding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FFT لقطع 1024 عينة؛ فرض فرق طور ±π/4 حسب البت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المقادير محفوظة — الاسمع لا يلاحظ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أقوى ضد التحليل البسيط؛ يحتاج حاملًا ≥15 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334256"/>
            <a:ext cx="6766560" cy="137160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334256"/>
            <a:ext cx="64008" cy="13716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480560"/>
            <a:ext cx="638251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250" b="1">
                <a:solidFill>
                  <a:srgbClr val="A78BFA"/>
                </a:solidFill>
                <a:latin typeface="Segoe UI"/>
                <a:cs typeface="Segoe UI"/>
              </a:rPr>
              <a:t>3) DSSS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كل بت ينتشر عبر متتالية ضوضاء ±1 مشتقة من المفتاح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طاقة الرسالة تحت أرضية الضوضاء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استخراج أعمى بالمفتاح فقط (حامل 30ث)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5852160"/>
            <a:ext cx="3977639" cy="4572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100" b="1">
                <a:solidFill>
                  <a:srgbClr val="34D399"/>
                </a:solidFill>
                <a:latin typeface="Segoe UI"/>
                <a:cs typeface="Segoe UI"/>
              </a:rPr>
              <a:t>مقاس فعليًا: SNR ≈ 97dB لـ LSB · استرجاع مطابق للتقنيات الثلاث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الإخفاء في الفيديو — تقنيتان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Video: FFV1 LSB pipeline + custom AES-EOF 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616190" y="2018252"/>
            <a:ext cx="4015739" cy="2684334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037302"/>
            <a:ext cx="3977639" cy="26462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49640" y="54406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Hide / Extract / Detect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71600"/>
            <a:ext cx="6766560" cy="228600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371600"/>
            <a:ext cx="64008" cy="2286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517904"/>
            <a:ext cx="638251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أ) FFV1 LSB — خط أنابيب بلا فقد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ffprobe (حقائق) ← ffmpeg يفكك الإطارات إلى PNG ← تضمين LSB إطارًا بإطار بترتيب مفتاحي ← إعادة ترميز FFV1 داخل MKV (فائد صفر) ← تحقق تلقائي بإعادة الاستخراج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الأداة ترفض إخراج mp4 مقصودًا: أي إعادة ضغط فائدة تدمر بتات LSB — درس تعليمي مقصود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40480"/>
            <a:ext cx="6766560" cy="228600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840480"/>
            <a:ext cx="64008" cy="2286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986784"/>
            <a:ext cx="638251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A78BFA"/>
                </a:solidFill>
                <a:latin typeface="Segoe UI"/>
                <a:cs typeface="Segoe UI"/>
              </a:rPr>
              <a:t>ب) حاوية EOF المخصصة — مشفرة بالكامل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بنية: بصمة SNXEOF0001 + ملح + nonce + اسم الملف + نص مشفر AES-256-GCM، وتُلحق بعد نهاية الفيديو مع trailing بالطول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مشتق المفتاح PBKDF2-SHA256 بـ 200,000 تكرار — مفتاح خاطئ = فشل تحقق GCM صريح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المشغل يقرأ الفيديو طبيعيًا 100%؛ Detect يكشفها من آخر 18 بايت دون مفتاح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تصريح صريح في الواجهة: حاوية أكاديمية خاصة — ليست OpenPuff ولا متوافقة معها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الإخفاء في الشبكة — قناة IPv4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Network steganography: the IPv4-ID covert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11018520" cy="137160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250" b="1">
                <a:solidFill>
                  <a:srgbClr val="EAF2FC"/>
                </a:solidFill>
                <a:latin typeface="Segoe UI"/>
                <a:cs typeface="Segoe UI"/>
              </a:rPr>
              <a:t>ترويسة IPv4 — الحقل المستغل: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93A7C4"/>
                </a:solidFill>
                <a:latin typeface="Segoe UI"/>
                <a:cs typeface="Segoe UI"/>
              </a:rPr>
              <a:t>الإصدار/IHL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1874519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93A7C4"/>
                </a:solidFill>
                <a:latin typeface="Segoe UI"/>
                <a:cs typeface="Segoe UI"/>
              </a:rPr>
              <a:t>الخدمات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874519"/>
            <a:ext cx="1554480" cy="5029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93A7C4"/>
                </a:solidFill>
                <a:latin typeface="Segoe UI"/>
                <a:cs typeface="Segoe UI"/>
              </a:rPr>
              <a:t>الطول الكلي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3" y="1874519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22D3EE"/>
                </a:solidFill>
                <a:latin typeface="Segoe UI"/>
                <a:cs typeface="Segoe UI"/>
              </a:rPr>
              <a:t>Identification ← 15 بت حمولة + بت parity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91471" y="1874519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34D399"/>
                </a:solidFill>
                <a:latin typeface="Segoe UI"/>
                <a:cs typeface="Segoe UI"/>
              </a:rPr>
              <a:t>الراوترات لا توحّده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2316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تأطير SNXNET1: عدد القطع + طول + CRC-32 ← قطع 15-بت؛ بت parity على فهرس القطعة يكشف الفقد وإعادة الترتيب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16190" y="3001233"/>
            <a:ext cx="4015739" cy="2684334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020283"/>
            <a:ext cx="3977639" cy="264623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686800" y="576072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شاشة المختبر الشبكي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971800"/>
            <a:ext cx="6766560" cy="141732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2971800"/>
            <a:ext cx="64008" cy="14173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118104"/>
            <a:ext cx="63825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ثلاث أدوات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Preview: خريطة قيم IP-ID دون أي إرسال (تعليمي) — أرسلنا حمولة حقيقية وقسمناها فعلًا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Send/Receive: قناة UDP أساسية غير سرية (مقارنة) — نجحت فعليًا: SUCCESS/SUCCESS وتطابق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القناة السرية IPv4-ID: تتطلب root + وضع المختبر المصرَّح (أثبتناها PASS في preflight)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526280"/>
            <a:ext cx="6766560" cy="141732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526280"/>
            <a:ext cx="64008" cy="14173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672584"/>
            <a:ext cx="638251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FBBF24"/>
                </a:solidFill>
                <a:latin typeface="Segoe UI"/>
                <a:cs typeface="Segoe UI"/>
              </a:rPr>
              <a:t>الوجه الجنائي: مفسر PCAP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تحليل إحصائي للاعتراض: اعتراضنا (17 حزمة) أعطى ثقة High لبنية CRC متسقة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الواجهة نفسها تعلن: «الشذوذ مؤشر لا دليل» — قاعدة أكاديمية ذهبية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الإخفاء التنفيذي: البرامج الضارة والفيروسات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Executable steganography: PE overlay &amp; section slack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10515600" cy="155448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0312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EAF2FC"/>
                </a:solidFill>
                <a:latin typeface="Segoe UI"/>
                <a:cs typeface="Segoe UI"/>
              </a:rPr>
              <a:t>ترويسات DOS/PE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10312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EAF2FC"/>
                </a:solidFill>
                <a:latin typeface="Segoe UI"/>
                <a:cs typeface="Segoe UI"/>
              </a:rPr>
              <a:t>قسم .text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1031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070C16"/>
                </a:solidFill>
                <a:latin typeface="Segoe UI"/>
                <a:cs typeface="Segoe UI"/>
              </a:rPr>
              <a:t>حشو القسم (Slack) ← الحاوية المخفية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10312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070C16"/>
                </a:solidFill>
                <a:latin typeface="Segoe UI"/>
                <a:cs typeface="Segoe UI"/>
              </a:rPr>
              <a:t>overlay ← الحاوية الملحقة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بنية PE: الحشو = فرق VirtualSize وSizeOfRawData — لا يقرأه المحمّل إطلاقًا؛ overlay يقع بعد آخر قسم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520440"/>
            <a:ext cx="64008" cy="24688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666744"/>
            <a:ext cx="501091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FBBF24"/>
                </a:solidFill>
                <a:latin typeface="Segoe UI"/>
                <a:cs typeface="Segoe UI"/>
              </a:rPr>
              <a:t>تقنية Overlay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إلحاق حاوية AES-256-GCM بعد آخر قسم + trailer بالطول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النمط الكلاسيكي لـ dropper/installer: حمولة ثانية داخل حامل سليم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أثر جنائي: الحجم يزيد ← يكشفها مقارنة الحجم بنهاية جدول الأقسام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من تشغيلنا: +150 بايت ظاهرة وكُشفت بنجاح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2044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520440"/>
            <a:ext cx="64008" cy="24688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666744"/>
            <a:ext cx="501091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34D399"/>
                </a:solidFill>
                <a:latin typeface="Segoe UI"/>
                <a:cs typeface="Segoe UI"/>
              </a:rPr>
              <a:t>تقنية Section Slack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كتابة الحاوية داخل حشو القسم وملء الباقي أصفارًا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الحجم لا يتغير إطلاقًا ← قياس الحجم وحده لا يكشف شيئًا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يكشفها فقط تحليل جدول الأقسام وفحص الحشو بايت-ببايت (زر Scan)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من تشغيلنا: 73 بايت في حامل 2048 ← الناتج 2048 بالضبط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الإخفاء التنفيذي: التجربة الموثقة كاملة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Executable stego — the documented real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7878" y="2070671"/>
            <a:ext cx="2689860" cy="1802257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89721"/>
            <a:ext cx="2651760" cy="176415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9808" y="457200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Hide (slack) — إخفاء 73 بايت — الحجم لم يتغير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230" y="2070671"/>
            <a:ext cx="2689860" cy="1802257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089721"/>
            <a:ext cx="2651760" cy="176415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566160" y="457200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Scan — كشف: blob في قسم .text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0582" y="2070671"/>
            <a:ext cx="2689860" cy="1802257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089721"/>
            <a:ext cx="2651760" cy="176415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382512" y="457200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Extract — استخراج بتطابق SHA-256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6934" y="2070671"/>
            <a:ext cx="2689860" cy="1802257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984" y="2089721"/>
            <a:ext cx="2651760" cy="176415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198864" y="4572000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Static flag — التحليل الساكن أشارة تلقائيًا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74920"/>
            <a:ext cx="11045952" cy="1051560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Segoe UI"/>
                <a:cs typeface="Segoe UI"/>
              </a:rPr>
              <a:t>حلقة مكتملة: إخفاء ← كشف ساكن ← استخراج ← إلواح تلقائي. لا تنفيذ للملف ولا فتحه بمحمل — كل شيء فحص بايتات على نسخ. وهذا يجيب مباشرة على متطلب «الإخفاء في البرامج الضارة والفيروسات» بأمانة وأمان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تحليل البرمجيات الخبيثة — ساكن دفاعي فقط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Malware static analysis — never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7430" y="1630680"/>
            <a:ext cx="5524500" cy="3688080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l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9730"/>
            <a:ext cx="5486400" cy="36499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38160" y="562356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تقرير ساكن كامل داخل الواجهة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71600"/>
            <a:ext cx="5257800" cy="274320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371600"/>
            <a:ext cx="64008" cy="2743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517904"/>
            <a:ext cx="487375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ماذا يفحص؟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فحص PE الكامل: أقسام حزم معروفة (UPX/Themida)، إنتروبيا قسم ≥ 7.2، نقطة دخول مشبوهة، توقيت ترجمة مستحيل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انتحال امتدادات + محارف RTLO · timestomping (mtime مقابل ctime) · تمويه · PyInstaller · أرشيفات · ELF · Office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استخراج IOC: روابط وعناوين وسلاسل مريبة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29768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297680"/>
            <a:ext cx="64008" cy="17830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4443984"/>
            <a:ext cx="4873752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FBBF24"/>
                </a:solidFill>
                <a:latin typeface="Segoe UI"/>
                <a:cs typeface="Segoe UI"/>
              </a:rPr>
              <a:t>قاعدة التقييم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الدرجة = 8 × عدد المؤشرات (سقف 100)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الثقة بالارتباط: مؤشر واحد = Low · أقل من 3 = Medium · 3+ = High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«مؤشر واحد لا يثبت شيئًا» — الإنتروبيا العالية في كل ملف مضغوط!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الأمان والأخلاقيات — بلا استثناء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Security &amp; ethics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64008" cy="21031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63624"/>
            <a:ext cx="501091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400" b="1">
                <a:solidFill>
                  <a:srgbClr val="34D399"/>
                </a:solidFill>
                <a:latin typeface="Segoe UI"/>
                <a:cs typeface="Segoe UI"/>
              </a:rPr>
              <a:t>قراءة-فقط افتراضيًا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الأصل لا يُعدَّل أبدًا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كل عملية على نسخة عمل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إثبات قبل/بعد بتجزئة SHA-256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64008" cy="21031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63624"/>
            <a:ext cx="501091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400" b="1">
                <a:solidFill>
                  <a:srgbClr val="F87171"/>
                </a:solidFill>
                <a:latin typeface="Segoe UI"/>
                <a:cs typeface="Segoe UI"/>
              </a:rPr>
              <a:t>برمجيات خبيثة: ساكن فقط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العينة لا تُنفَّذ إطلاقًا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لا sandbox ولا detonation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لا أي كود هجومي في المشروع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7033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703320"/>
            <a:ext cx="64008" cy="21031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849624"/>
            <a:ext cx="501091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400" b="1">
                <a:solidFill>
                  <a:srgbClr val="FBBF24"/>
                </a:solidFill>
                <a:latin typeface="Segoe UI"/>
                <a:cs typeface="Segoe UI"/>
              </a:rPr>
              <a:t>شبكة مقيدة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مقفولة افتراضيًا — مفتاح مصرّح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root للقناة السرية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وجهات: loopback / RFC1918 فقط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0332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703320"/>
            <a:ext cx="64008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849624"/>
            <a:ext cx="501091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400" b="1">
                <a:solidFill>
                  <a:srgbClr val="22D3EE"/>
                </a:solidFill>
                <a:latin typeface="Segoe UI"/>
                <a:cs typeface="Segoe UI"/>
              </a:rPr>
              <a:t>لا نتائج ملفقة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أداة غائبة = UNAVAILABLE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الشذوذ مؤشر لا دليل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حالات الطب العينات: TRAINING-SYNTHETIC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التحقق: كل رقم قابل لإعادة التشغيل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Verification — measured, reproducible, honest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08760"/>
            <a:ext cx="2606040" cy="1024128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1848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34D399"/>
                </a:solidFill>
                <a:latin typeface="Segoe UI"/>
                <a:cs typeface="Segoe UI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85416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اختبار pytest ناجح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508760"/>
            <a:ext cx="2606040" cy="1024128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61848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22D3EE"/>
                </a:solidFill>
                <a:latin typeface="Segoe UI"/>
                <a:cs typeface="Segoe UI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185416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خطوة موثقة بلقطات وقياسات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508760"/>
            <a:ext cx="2606040" cy="1024128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61848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2D3EE"/>
                </a:solidFill>
                <a:latin typeface="Segoe UI"/>
                <a:cs typeface="Segoe UI"/>
              </a:rPr>
              <a:t>20/20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185416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واجهات GUI تُرسم بلا أخطاء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508760"/>
            <a:ext cx="2606040" cy="1024128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161848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2D3EE"/>
                </a:solidFill>
                <a:latin typeface="Segoe UI"/>
                <a:cs typeface="Segoe UI"/>
              </a:rPr>
              <a:t>11/11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2185416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مسارات أزرار حقيقية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880360"/>
            <a:ext cx="2606040" cy="1024128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99008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34D399"/>
                </a:solidFill>
                <a:latin typeface="Segoe UI"/>
                <a:cs typeface="Segoe UI"/>
              </a:rPr>
              <a:t>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57016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preflight شامل (22 PASS بصلاحيات root)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47288" y="2880360"/>
            <a:ext cx="2606040" cy="1024128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8" y="299008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BBF24"/>
                </a:solidFill>
                <a:latin typeface="Segoe UI"/>
                <a:cs typeface="Segoe UI"/>
              </a:rPr>
              <a:t>15/24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3557016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أداة خارجية متاحة والباقي بصدق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2880360"/>
            <a:ext cx="2606040" cy="1024128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299008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34D399"/>
                </a:solidFill>
                <a:latin typeface="Segoe UI"/>
                <a:cs typeface="Segoe UI"/>
              </a:rPr>
              <a:t>10/10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557016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جولات إخفاء/استخراج بتطابق كامل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2880360"/>
            <a:ext cx="2606040" cy="1024128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25128" y="2990088"/>
            <a:ext cx="2606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A78BFA"/>
                </a:solidFill>
                <a:latin typeface="Segoe UI"/>
                <a:cs typeface="Segoe UI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3557016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تغطية متطلبات المقرر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370832"/>
            <a:ext cx="10881360" cy="178308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535424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Segoe UI"/>
                <a:cs typeface="Segoe UI"/>
              </a:rPr>
              <a:t>كيف نثبت ذلك أمامك الآن؟</a:t>
            </a:r>
          </a:p>
          <a:p>
            <a:pPr algn="r" rtl="1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EAF2FC"/>
                </a:solidFill>
                <a:latin typeface="Segoe UI"/>
                <a:cs typeface="Segoe UI"/>
              </a:rPr>
              <a:t>أمر واحد يعيد كل شيء: pytest · preflight · اختبار الواجهات · اختبار الأزرار · demo_end_to_end</a:t>
            </a:r>
          </a:p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EAF2FC"/>
                </a:solidFill>
                <a:latin typeface="Segoe UI"/>
                <a:cs typeface="Segoe UI"/>
              </a:rPr>
              <a:t>preflight ينفذ جولات إخفاء حقيقية ويقارن المستخرج بالأصل بايت-ببايت، وكل النواتج تُكتب في artifacts/ — والتقرير المصوَّر (36 خطوة) يوثق القياسات نفسها بلقطاتها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القضايا التدريبية A–D — مادة عرض جاهزة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Synthetic training cases (labelled, reproducible)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6304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7048" y="1691640"/>
            <a:ext cx="914400" cy="64008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2200" b="1">
                <a:solidFill>
                  <a:srgbClr val="070C16"/>
                </a:solidFill>
                <a:latin typeface="Segoe UI"/>
                <a:cs typeface="Segoe U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146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300" b="1">
                <a:solidFill>
                  <a:srgbClr val="EAF2FC"/>
                </a:solidFill>
                <a:latin typeface="Segoe UI"/>
                <a:cs typeface="Segoe UI"/>
              </a:rPr>
              <a:t>ميتاداتا + صورة LSB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حقن وسوم على نسخة + إخفاء/استخراج + إثبات أن الأصل سليم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46304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691640"/>
            <a:ext cx="914400" cy="6400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2200" b="1">
                <a:solidFill>
                  <a:srgbClr val="070C16"/>
                </a:solidFill>
                <a:latin typeface="Segoe UI"/>
                <a:cs typeface="Segoe U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5146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300" b="1">
                <a:solidFill>
                  <a:srgbClr val="EAF2FC"/>
                </a:solidFill>
                <a:latin typeface="Segoe UI"/>
                <a:cs typeface="Segoe UI"/>
              </a:rPr>
              <a:t>صوت LSB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01752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SNR مقاس ~97dB واسترجاع مطابق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46304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59752" y="1691640"/>
            <a:ext cx="914400" cy="6400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2200" b="1">
                <a:solidFill>
                  <a:srgbClr val="070C16"/>
                </a:solidFill>
                <a:latin typeface="Segoe UI"/>
                <a:cs typeface="Segoe UI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146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300" b="1">
                <a:solidFill>
                  <a:srgbClr val="EAF2FC"/>
                </a:solidFill>
                <a:latin typeface="Segoe UI"/>
                <a:cs typeface="Segoe UI"/>
              </a:rPr>
              <a:t>شبكة PCAP + خبيث ساكن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01752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ثقة High للاعتراض + تحليل ساكن دون تنفيذ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7424" y="1463040"/>
            <a:ext cx="2651760" cy="292608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76104" y="1691640"/>
            <a:ext cx="914400" cy="64008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2200" b="1">
                <a:solidFill>
                  <a:srgbClr val="070C16"/>
                </a:solidFill>
                <a:latin typeface="Segoe UI"/>
                <a:cs typeface="Segoe U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5146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300" b="1">
                <a:solidFill>
                  <a:srgbClr val="EAF2FC"/>
                </a:solidFill>
                <a:latin typeface="Segoe UI"/>
                <a:cs typeface="Segoe UI"/>
              </a:rPr>
              <a:t>إخفاء تنفيذي (الجديد)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301752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93A7C4"/>
                </a:solidFill>
                <a:latin typeface="Segoe UI"/>
                <a:cs typeface="Segoe UI"/>
              </a:rPr>
              <a:t>slack + overlay ← كشف ← استخراج ← إلواح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177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3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قضايا المقرر الحقيقية؟</a:t>
            </a:r>
          </a:p>
          <a:p>
            <a:pPr algn="r" rtl="1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EAF2FC"/>
                </a:solidFill>
                <a:latin typeface="Segoe UI"/>
                <a:cs typeface="Segoe UI"/>
              </a:rPr>
              <a:t>استوردها عبر Cases ← New Case ← Evidence ← Import — الخدمات مستقلة عن الصيغة ولا حاجة لأي تعديل في الكود. القضايا المدمجة موسومة TRAINING-SYNTHETIC أمانةً مع اللجنة.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التوثيق والتقارير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Reports &amp; documentation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7430" y="1630680"/>
            <a:ext cx="5524500" cy="3688080"/>
          </a:xfrm>
          <a:prstGeom prst="rect">
            <a:avLst/>
          </a:prstGeom>
          <a:solidFill>
            <a:srgbClr val="111C30"/>
          </a:solidFill>
          <a:ln w="1524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9730"/>
            <a:ext cx="5486400" cy="36499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38160" y="562356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950" b="0">
                <a:solidFill>
                  <a:srgbClr val="22D3EE"/>
                </a:solidFill>
                <a:latin typeface="Segoe UI"/>
                <a:cs typeface="Segoe UI"/>
              </a:rPr>
              <a:t>توليد PDF/HTML/JSON من السجلات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71600"/>
            <a:ext cx="5257800" cy="210312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1371600"/>
            <a:ext cx="64008" cy="21031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517904"/>
            <a:ext cx="48737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ثلاث صيغ من قاعدة البيانات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PDF موسوم بالهوية + HTML تفاعلي + JSON خام للأدلة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تضم الأدلة وتجزئاتها والتحليلات والنتائج ولقطة حالة الأدوات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من تشغيلنا: تقرير القضية الموثقة (PDF 171KB · HTML 110KB · JSON 56KB)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57600"/>
            <a:ext cx="5257800" cy="2377440"/>
          </a:xfrm>
          <a:prstGeom prst="roundRect">
            <a:avLst>
              <a:gd name="adj" fmla="val 5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657600"/>
            <a:ext cx="64008" cy="2377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803904"/>
            <a:ext cx="487375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350" b="1">
                <a:solidFill>
                  <a:srgbClr val="34D399"/>
                </a:solidFill>
                <a:latin typeface="Segoe UI"/>
                <a:cs typeface="Segoe UI"/>
              </a:rPr>
              <a:t>طبقات التوثيق الأخرى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سجل التدقيق: من/متى/ماذا/النتيجة/التجزئة لكل إجراء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توثيق docs/: دليل استخدام، معمارية، مصفوفة تتبع 23 متطلبًا، دليل مناقشة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التقرير الشامل المصوَّر: 36 خطوة بقياساتها وشرح لكل لقطة</a:t>
            </a:r>
          </a:p>
          <a:p>
            <a:pPr algn="r" rtl="1">
              <a:lnSpc>
                <a:spcPct val="104000"/>
              </a:lnSpc>
              <a:spcAft>
                <a:spcPts val="400"/>
              </a:spcAft>
            </a:pPr>
            <a:r>
              <a:rPr sz="1050" b="0">
                <a:solidFill>
                  <a:srgbClr val="EAF2FC"/>
                </a:solidFill>
                <a:latin typeface="Segoe UI"/>
                <a:cs typeface="Segoe UI"/>
              </a:rPr>
              <a:t>دليل عربي مصور لكل خدمة — يعمل دون إنترنت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الحدود والقيود — بصدق كامل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Honest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63040"/>
            <a:ext cx="11018520" cy="96012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66960" y="1719072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FBBF24"/>
                </a:solidFill>
                <a:latin typeface="Segoe UI"/>
                <a:cs typeface="Segoe UI"/>
              </a:rPr>
              <a:t>قيود موثقة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727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 b="1">
                <a:solidFill>
                  <a:srgbClr val="EAF2FC"/>
                </a:solidFill>
                <a:latin typeface="Segoe UI"/>
                <a:cs typeface="Segoe UI"/>
              </a:rPr>
              <a:t>أدوات Windows المرجعية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8961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93A7C4"/>
                </a:solidFill>
                <a:latin typeface="Segoe UI"/>
                <a:cs typeface="Segoe UI"/>
              </a:rPr>
              <a:t>OpenPuff/CyberHide/DeepSound/Coagula توثَّق REFERENCE — وبنينا محركات أصلية مكافئة تعمل على Kali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560320"/>
            <a:ext cx="11018520" cy="96012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66960" y="2816352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FBBF24"/>
                </a:solidFill>
                <a:latin typeface="Segoe UI"/>
                <a:cs typeface="Segoe UI"/>
              </a:rPr>
              <a:t>قيود موثقة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700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 b="1">
                <a:solidFill>
                  <a:srgbClr val="EAF2FC"/>
                </a:solidFill>
                <a:latin typeface="Segoe UI"/>
                <a:cs typeface="Segoe UI"/>
              </a:rPr>
              <a:t>تحليل ديناميكي محجوب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44952"/>
            <a:ext cx="8961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93A7C4"/>
                </a:solidFill>
                <a:latin typeface="Segoe UI"/>
                <a:cs typeface="Segoe UI"/>
              </a:rPr>
              <a:t>لا تنفيذ للعينات عمدًا — قرار أمني/أخلاقي موثق، والتحليل ساكن فقط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57600"/>
            <a:ext cx="11018520" cy="96012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66960" y="3913632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FBBF24"/>
                </a:solidFill>
                <a:latin typeface="Segoe UI"/>
                <a:cs typeface="Segoe UI"/>
              </a:rPr>
              <a:t>قيود موثقة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6732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 b="1">
                <a:solidFill>
                  <a:srgbClr val="EAF2FC"/>
                </a:solidFill>
                <a:latin typeface="Segoe UI"/>
                <a:cs typeface="Segoe UI"/>
              </a:rPr>
              <a:t>الشبكة تتطلب صلاحيات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42232"/>
            <a:ext cx="8961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93A7C4"/>
                </a:solidFill>
                <a:latin typeface="Segoe UI"/>
                <a:cs typeface="Segoe UI"/>
              </a:rPr>
              <a:t>القناة السرية تحتاج root + وضع مختبر مصرَّح — وبدونها تظهر GATED بصدق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754880"/>
            <a:ext cx="11018520" cy="960120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66960" y="5010912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50" b="1">
                <a:solidFill>
                  <a:srgbClr val="FBBF24"/>
                </a:solidFill>
                <a:latin typeface="Segoe UI"/>
                <a:cs typeface="Segoe UI"/>
              </a:rPr>
              <a:t>قيود موثقة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646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 b="1">
                <a:solidFill>
                  <a:srgbClr val="EAF2FC"/>
                </a:solidFill>
                <a:latin typeface="Segoe UI"/>
                <a:cs typeface="Segoe UI"/>
              </a:rPr>
              <a:t>الشذوذ ≠ إثبات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39512"/>
            <a:ext cx="8961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93A7C4"/>
                </a:solidFill>
                <a:latin typeface="Segoe UI"/>
                <a:cs typeface="Segoe UI"/>
              </a:rPr>
              <a:t>أي قيمة غريبة في ترويسة مؤشر تحقيق وليست إدانة — الواجهة تعلن ذلك نصيًا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43600"/>
            <a:ext cx="11018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250" b="1">
                <a:solidFill>
                  <a:srgbClr val="FBBF24"/>
                </a:solidFill>
                <a:latin typeface="Segoe UI"/>
                <a:cs typeface="Segoe UI"/>
              </a:rPr>
              <a:t>ذكر القيود بوضوح ليس ضعفًا — إنه الفرق بين أداة أكاديمية أمينة وأداة دعائية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28455" y="274320"/>
            <a:ext cx="82296" cy="71323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183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400" b="1">
                <a:solidFill>
                  <a:srgbClr val="EAF2FC"/>
                </a:solidFill>
                <a:latin typeface="Segoe UI"/>
                <a:cs typeface="Segoe UI"/>
              </a:rPr>
              <a:t>الخلاصة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8096"/>
            <a:ext cx="81838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93A7C4"/>
                </a:solidFill>
                <a:latin typeface="Segoe UI"/>
                <a:cs typeface="Segoe UI"/>
              </a:rPr>
              <a:t>StegoNexus · Kali Linux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9728" y="6446520"/>
            <a:ext cx="457200" cy="27432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000" b="1">
                <a:solidFill>
                  <a:srgbClr val="22D3EE"/>
                </a:solidFill>
                <a:latin typeface="Segoe UI"/>
                <a:cs typeface="Segoe U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1018520" cy="896112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61320" y="1636776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500" b="1">
                <a:solidFill>
                  <a:srgbClr val="22D3EE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508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تغطية كاملة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92808"/>
            <a:ext cx="9601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كل تقنيات المقرر في أداة واحدة: ميتاداتا · نص · صورة · صوت · فيديو · شبكة · تنفيذية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441448"/>
            <a:ext cx="11018520" cy="896112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61320" y="2660904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500" b="1">
                <a:solidFill>
                  <a:srgbClr val="22D3EE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3288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محركات أصلية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16936"/>
            <a:ext cx="9601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10 محركات مكتوبة يدويًا + دمج حقيقي لأدوات Kali الخارجية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465576"/>
            <a:ext cx="11018520" cy="896112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61320" y="3685032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500" b="1">
                <a:solidFill>
                  <a:srgbClr val="22D3EE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5570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إثبات قياس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41064"/>
            <a:ext cx="9601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34 اختبارًا · 36 خطوة موثقة · 12/12 جولة بتطابق بايت-ببايت · preflight READY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489704"/>
            <a:ext cx="11018520" cy="896112"/>
          </a:xfrm>
          <a:prstGeom prst="roundRect">
            <a:avLst>
              <a:gd name="adj" fmla="val 8000"/>
            </a:avLst>
          </a:prstGeom>
          <a:solidFill>
            <a:srgbClr val="111C30"/>
          </a:solidFill>
          <a:ln w="12700">
            <a:solidFill>
              <a:srgbClr val="2A3B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61320" y="470916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500" b="1">
                <a:solidFill>
                  <a:srgbClr val="22D3EE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58114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 b="1">
                <a:solidFill>
                  <a:srgbClr val="22D3EE"/>
                </a:solidFill>
                <a:latin typeface="Segoe UI"/>
                <a:cs typeface="Segoe UI"/>
              </a:rPr>
              <a:t>نضج أكاديمي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65192"/>
            <a:ext cx="9601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>
                <a:solidFill>
                  <a:srgbClr val="EAF2FC"/>
                </a:solidFill>
                <a:latin typeface="Segoe UI"/>
                <a:cs typeface="Segoe UI"/>
              </a:rPr>
              <a:t>سياسة صدق · سجل تدقيق · قضايا وأدلة · تقارير · حدود معلنة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623560"/>
            <a:ext cx="11018520" cy="777240"/>
          </a:xfrm>
          <a:prstGeom prst="roundRect">
            <a:avLst>
              <a:gd name="adj" fmla="val 8000"/>
            </a:avLst>
          </a:prstGeom>
          <a:solidFill>
            <a:srgbClr val="16233B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7607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34D399"/>
                </a:solidFill>
                <a:latin typeface="Segoe UI"/>
                <a:cs typeface="Segoe UI"/>
              </a:rPr>
              <a:t>«القيمة الحقيقية ليست أن كل أداة موجودة — بل أن المنصة تقول الحقيقة دائمًا عن ما فعلته وبأي أداة وبأي تجزئة»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4400" b="1">
                <a:solidFill>
                  <a:srgbClr val="EAF2FC"/>
                </a:solidFill>
                <a:latin typeface="Segoe UI"/>
                <a:cs typeface="Segoe UI"/>
              </a:rPr>
              <a:t>شكرًا لحسن استماعكم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9994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600" b="0">
                <a:solidFill>
                  <a:srgbClr val="22D3EE"/>
                </a:solidFill>
                <a:latin typeface="Segoe UI"/>
                <a:cs typeface="Segoe UI"/>
              </a:rPr>
              <a:t>نرحب بأسئلتكم — وكل رقم قلناه اليوم قابل لإعادة التشغيل أمامكم الآن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2968" y="4206240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11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150" b="1">
                <a:solidFill>
                  <a:srgbClr val="22D3EE"/>
                </a:solidFill>
                <a:latin typeface="Segoe UI"/>
                <a:cs typeface="Segoe UI"/>
              </a:rPr>
              <a:t>عرض حي مباشر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30368" y="4206240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11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150" b="1">
                <a:solidFill>
                  <a:srgbClr val="22D3EE"/>
                </a:solidFill>
                <a:latin typeface="Segoe UI"/>
                <a:cs typeface="Segoe UI"/>
              </a:rPr>
              <a:t>إعادة تشغيل الاختبارات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7768" y="4206240"/>
            <a:ext cx="1874519" cy="457200"/>
          </a:xfrm>
          <a:prstGeom prst="roundRect">
            <a:avLst>
              <a:gd name="adj" fmla="val 50000"/>
            </a:avLst>
          </a:prstGeom>
          <a:solidFill>
            <a:srgbClr val="11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" bIns="9144"/>
          <a:lstStyle/>
          <a:p>
            <a:pPr algn="ctr" rtl="1"/>
            <a:r>
              <a:rPr sz="1150" b="1">
                <a:solidFill>
                  <a:srgbClr val="22D3EE"/>
                </a:solidFill>
                <a:latin typeface="Segoe UI"/>
                <a:cs typeface="Segoe UI"/>
              </a:rPr>
              <a:t>التقرير المصوَّر (36 خطوة)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69280"/>
            <a:ext cx="9994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93A7C4"/>
                </a:solidFill>
                <a:latin typeface="Segoe UI"/>
                <a:cs typeface="Segoe UI"/>
              </a:rPr>
              <a:t>StegoNexus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